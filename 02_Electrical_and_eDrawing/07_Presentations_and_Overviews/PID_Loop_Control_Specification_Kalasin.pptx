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</a:defRPr>
            </a:pPr>
            <a:r>
              <a:t>INGREDION (THAILAND) CO., LTD.  —  KALASIN PLANT</a:t>
            </a:r>
          </a:p>
          <a:p>
            <a:pPr>
              <a:spcBef>
                <a:spcPts val="800"/>
              </a:spcBef>
              <a:defRPr sz="3600" b="1">
                <a:solidFill>
                  <a:srgbClr val="FFFFFF"/>
                </a:solidFill>
              </a:defRPr>
            </a:pPr>
            <a:r>
              <a:t>Master PID Loop Control Specification</a:t>
            </a:r>
          </a:p>
          <a:p>
            <a:pPr>
              <a:spcBef>
                <a:spcPts val="600"/>
              </a:spcBef>
              <a:defRPr sz="2000">
                <a:solidFill>
                  <a:srgbClr val="CBD5E1"/>
                </a:solidFill>
              </a:defRPr>
            </a:pPr>
            <a:r>
              <a:t>Project SPRINT: 18,000 TPA Spray Dryer Plant &amp; Continuous Jet Cooker Unit</a:t>
            </a:r>
          </a:p>
          <a:p>
            <a:pPr>
              <a:spcBef>
                <a:spcPts val="1400"/>
              </a:spcBef>
              <a:defRPr sz="1300" b="1">
                <a:solidFill>
                  <a:srgbClr val="22C55E"/>
                </a:solidFill>
              </a:defRPr>
            </a:pPr>
            <a:r>
              <a:t>Complete Process Control Loop Architecture: 16 PID Loops | 5 Hardwired 4-20mA AO Valves &amp; Burner Demand | 10 EtherNet/IP VFD Speed Controls | 1 Remote Utility AO | ControlLogix 5580 PIDE Platform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114800"/>
            <a:ext cx="249905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09728" rIns="109728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🎯 CORE THERMAL LOOPS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5 Critical PID Loops</a:t>
            </a:r>
          </a:p>
          <a:p>
            <a:pPr>
              <a:spcBef>
                <a:spcPts val="400"/>
              </a:spcBef>
              <a:defRPr sz="850">
                <a:solidFill>
                  <a:srgbClr val="CBD5E1"/>
                </a:solidFill>
              </a:defRPr>
            </a:pPr>
            <a:r>
              <a:t>Direct Steam Jet Cooking (TCV-40222), Drying Air Inlet Temp (UY-FH-60210B), Pre-Heat Exchanger (TCV-60214), Steam Header (PCV-60201) &amp; Camera Chilled Water (TCV-60202).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4114800"/>
            <a:ext cx="249905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09728" rIns="109728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🛡️ DRAFT &amp; AIR FLOW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4 Fast-Acting Loops</a:t>
            </a:r>
          </a:p>
          <a:p>
            <a:pPr>
              <a:spcBef>
                <a:spcPts val="400"/>
              </a:spcBef>
              <a:defRPr sz="850">
                <a:solidFill>
                  <a:srgbClr val="CBD5E1"/>
                </a:solidFill>
              </a:defRPr>
            </a:pPr>
            <a:r>
              <a:t>Drying Chamber Draft Pressure (PIC-60220 / FANE-21 VFD), Main Supply Air Flow (FIC-60210 / FANS-21), Burner Combustion Air Ratio (FIC-60211) &amp; Conveying Fan (FIC-60201).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4114800"/>
            <a:ext cx="249905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09728" rIns="109728"/>
          <a:lstStyle/>
          <a:p>
            <a:pPr algn="ctr">
              <a:defRPr sz="1100" b="1">
                <a:solidFill>
                  <a:srgbClr val="14B8A6"/>
                </a:solidFill>
              </a:defRPr>
            </a:pPr>
            <a:r>
              <a:t>💧 QUALITY &amp; MOISTURE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4 Process Loops</a:t>
            </a:r>
          </a:p>
          <a:p>
            <a:pPr>
              <a:spcBef>
                <a:spcPts val="400"/>
              </a:spcBef>
              <a:defRPr sz="850">
                <a:solidFill>
                  <a:srgbClr val="CBD5E1"/>
                </a:solidFill>
              </a:defRPr>
            </a:pPr>
            <a:r>
              <a:t>Chamber Outlet Temp / Moisture Cascade (TIC-60226 to PUPD-11 Slurry Pump VFD), Jet Cooker Slurry Mass Flow (FIC-40203) &amp; pH Conditioning (pHTC-40201/40202).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4114800"/>
            <a:ext cx="249905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09728" rIns="109728"/>
          <a:lstStyle/>
          <a:p>
            <a:pPr algn="ctr">
              <a:defRPr sz="1100" b="1">
                <a:solidFill>
                  <a:srgbClr val="A855F7"/>
                </a:solidFill>
              </a:defRPr>
            </a:pPr>
            <a:r>
              <a:t>⚡ HARDWARE ARCHITECTURE</a:t>
            </a:r>
          </a:p>
          <a:p>
            <a:pPr>
              <a:spcBef>
                <a:spcPts val="300"/>
              </a:spcBef>
              <a:defRPr sz="1000" b="1">
                <a:solidFill>
                  <a:srgbClr val="FFFFFF"/>
                </a:solidFill>
              </a:defRPr>
            </a:pPr>
            <a:r>
              <a:t>ControlLogix 5580</a:t>
            </a:r>
          </a:p>
          <a:p>
            <a:pPr>
              <a:spcBef>
                <a:spcPts val="400"/>
              </a:spcBef>
              <a:defRPr sz="850">
                <a:solidFill>
                  <a:srgbClr val="CBD5E1"/>
                </a:solidFill>
              </a:defRPr>
            </a:pPr>
            <a:r>
              <a:t>1756-OF8 HART Module (Chassis C3 Slot 13), 20 PowerFlex VFDs over EtherNet/IP DLR (Chassis C7 Bus), 1756-IF16 HART Inputs &amp; FT View SE Faceplates.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722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Document Ref: PRJ-2603001-PID-SPEC-R01  |  Engineering Consultant: AEC Industrial Engineering  |  Rev 3.6 Master Aligned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38BDF8"/>
                </a:solidFill>
              </a:defRPr>
            </a:pPr>
            <a:r>
              <a:t>PROCESS AUTOMATION &amp; INSTRUMENTATION SPECIFICATION  |  INGREDION KALASIN — PROJECT SPRINT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FFFFFF"/>
                </a:solidFill>
              </a:defRPr>
            </a:pPr>
            <a:r>
              <a:t>PLANT PROCESS SCHEMATIC &amp; PID CONTROL LOOP ALLOCATION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743200" cy="530352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950" b="1">
                <a:solidFill>
                  <a:srgbClr val="14B8A6"/>
                </a:solidFill>
              </a:defRPr>
            </a:pPr>
            <a:r>
              <a:t>ZONE 1 : SLURRY PREP &amp; JET COOKER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56032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 rIns="73152" bIns="36576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pHTC-40201 / 40202</a:t>
            </a:r>
          </a:p>
          <a:p>
            <a:pPr>
              <a:defRPr sz="800" b="1">
                <a:solidFill>
                  <a:srgbClr val="14B8A6"/>
                </a:solidFill>
              </a:defRPr>
            </a:pPr>
            <a:r>
              <a:t>Slurry pH Adjustment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PV: pHT-40201/40202</a:t>
            </a:r>
            <a:br/>
            <a:r>
              <a:t>CV: Dosing Pumps PD-40204/05</a:t>
            </a:r>
            <a:br/>
            <a:r>
              <a:t>Target: 5.8 - 6.2 pH</a:t>
            </a:r>
            <a:br/>
            <a:r>
              <a:t>P&amp;ID: 325-01-402-PD-01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79192"/>
            <a:ext cx="256032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 rIns="73152" bIns="36576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LIC-40203</a:t>
            </a:r>
          </a:p>
          <a:p>
            <a:pPr>
              <a:defRPr sz="800" b="1">
                <a:solidFill>
                  <a:srgbClr val="14B8A6"/>
                </a:solidFill>
              </a:defRPr>
            </a:pPr>
            <a:r>
              <a:t>Slurry Infeed Tank Level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PV: LT-40203 (0-100%)</a:t>
            </a:r>
            <a:br/>
            <a:r>
              <a:t>CV: Upstream Feed Valve/Pump</a:t>
            </a:r>
            <a:br/>
            <a:r>
              <a:t>Target: 60 - 75% Buffer</a:t>
            </a:r>
            <a:br/>
            <a:r>
              <a:t>P&amp;ID: 325-01-402-PD-02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895344"/>
            <a:ext cx="256032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 rIns="73152" bIns="36576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FIC-40203</a:t>
            </a:r>
          </a:p>
          <a:p>
            <a:pPr>
              <a:defRPr sz="800" b="1">
                <a:solidFill>
                  <a:srgbClr val="14B8A6"/>
                </a:solidFill>
              </a:defRPr>
            </a:pPr>
            <a:r>
              <a:t>Jet Cooker Slurry Mass Flow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PV: FT-40221/40222 Coriolis</a:t>
            </a:r>
            <a:br/>
            <a:r>
              <a:t>CV: PUCF-11 Feed Pump VFD</a:t>
            </a:r>
            <a:br/>
            <a:r>
              <a:t>Target: 4.5 - 7.5 t/h</a:t>
            </a:r>
            <a:br/>
            <a:r>
              <a:t>P&amp;ID: 325-01-402-PD-02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111496"/>
            <a:ext cx="256032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 rIns="73152" bIns="36576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TIC-40222 [CRITICAL]</a:t>
            </a:r>
          </a:p>
          <a:p>
            <a:pPr>
              <a:defRPr sz="800" b="1">
                <a:solidFill>
                  <a:srgbClr val="14B8A6"/>
                </a:solidFill>
              </a:defRPr>
            </a:pPr>
            <a:r>
              <a:t>Jet Cooker Steam Temp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PV: TT-40221/40222 Duplex RTD</a:t>
            </a:r>
            <a:br/>
            <a:r>
              <a:t>CV: TCV-40222 (Samson 3241)</a:t>
            </a:r>
            <a:br/>
            <a:r>
              <a:t>Target: 120 - 140 °C (Cooking)</a:t>
            </a:r>
            <a:br/>
            <a:r>
              <a:t>Output: 4-20mA (C3S13,00)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1097280"/>
            <a:ext cx="2743200" cy="530352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950" b="1">
                <a:solidFill>
                  <a:srgbClr val="F59E0B"/>
                </a:solidFill>
              </a:defRPr>
            </a:pPr>
            <a:r>
              <a:t>ZONE 2 : DRYER AIR HEATING &amp; STEAM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63040"/>
            <a:ext cx="256032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 rIns="73152" bIns="36576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PIC-60201 [MASTER]</a:t>
            </a:r>
          </a:p>
          <a:p>
            <a:pPr>
              <a:defRPr sz="800" b="1">
                <a:solidFill>
                  <a:srgbClr val="F59E0B"/>
                </a:solidFill>
              </a:defRPr>
            </a:pPr>
            <a:r>
              <a:t>Steam Header Pressure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PV: PT-60201 (0-25 bar)</a:t>
            </a:r>
            <a:br/>
            <a:r>
              <a:t>CV: PCV-60201 (Samson NPS 4")</a:t>
            </a:r>
            <a:br/>
            <a:r>
              <a:t>Target: 16.0 bar(g) Steady</a:t>
            </a:r>
            <a:br/>
            <a:r>
              <a:t>Output: 4-20mA (C3S13,03)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2679192"/>
            <a:ext cx="256032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 rIns="73152" bIns="36576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TIC-60214</a:t>
            </a:r>
          </a:p>
          <a:p>
            <a:pPr>
              <a:defRPr sz="800" b="1">
                <a:solidFill>
                  <a:srgbClr val="F59E0B"/>
                </a:solidFill>
              </a:defRPr>
            </a:pPr>
            <a:r>
              <a:t>Air Pre-Heater Temp (HXCH)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PV: TT-60214 (0-150°C)</a:t>
            </a:r>
            <a:br/>
            <a:r>
              <a:t>CV: TCV-60214 (Samson NPS 2")</a:t>
            </a:r>
            <a:br/>
            <a:r>
              <a:t>Target: 75 - 85 °C Pre-heat</a:t>
            </a:r>
            <a:br/>
            <a:r>
              <a:t>Output: 4-20mA (C3S13,02)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3895344"/>
            <a:ext cx="256032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 rIns="73152" bIns="36576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TIC-60210 [THERMAL]</a:t>
            </a:r>
          </a:p>
          <a:p>
            <a:pPr>
              <a:defRPr sz="800" b="1">
                <a:solidFill>
                  <a:srgbClr val="F59E0B"/>
                </a:solidFill>
              </a:defRPr>
            </a:pPr>
            <a:r>
              <a:t>Dryer Inlet Air Temperature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PV: TT-60210/60211 (Hot Duct)</a:t>
            </a:r>
            <a:br/>
            <a:r>
              <a:t>CV: UY-FH-60210B (BMS Demand)</a:t>
            </a:r>
            <a:br/>
            <a:r>
              <a:t>Target: 185 - 205 °C Air Supply</a:t>
            </a:r>
            <a:br/>
            <a:r>
              <a:t>Output: 4-20mA (C3S13,04)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5111496"/>
            <a:ext cx="256032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 rIns="73152" bIns="36576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FIC-60210 / 60211</a:t>
            </a:r>
          </a:p>
          <a:p>
            <a:pPr>
              <a:defRPr sz="800" b="1">
                <a:solidFill>
                  <a:srgbClr val="F59E0B"/>
                </a:solidFill>
              </a:defRPr>
            </a:pPr>
            <a:r>
              <a:t>Dryer Supply Air &amp; Comb. Flow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PV: FT-60210/11 &amp; PT-60216</a:t>
            </a:r>
            <a:br/>
            <a:r>
              <a:t>CV: FANS-21 &amp; FANC-21 VFDs</a:t>
            </a:r>
            <a:br/>
            <a:r>
              <a:t>Target: 32,000 Nm³/h &amp; Ratio</a:t>
            </a:r>
            <a:br/>
            <a:r>
              <a:t>Interface: EtherNet/IP Bus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97280"/>
            <a:ext cx="2743200" cy="530352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950" b="1">
                <a:solidFill>
                  <a:srgbClr val="F43F5E"/>
                </a:solidFill>
              </a:defRPr>
            </a:pPr>
            <a:r>
              <a:t>ZONE 3 : DRYING CHAMBER &amp; DRAFT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63040"/>
            <a:ext cx="256032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 rIns="73152" bIns="36576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PIC-60220 [SAFETY]</a:t>
            </a:r>
          </a:p>
          <a:p>
            <a:pPr>
              <a:defRPr sz="800" b="1">
                <a:solidFill>
                  <a:srgbClr val="F43F5E"/>
                </a:solidFill>
              </a:defRPr>
            </a:pPr>
            <a:r>
              <a:t>Chamber Draft Pressure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PV: PT-60220 (-10..+10 mbar)</a:t>
            </a:r>
            <a:br/>
            <a:r>
              <a:t>CV: FANE-21 Exhaust Fan VFD</a:t>
            </a:r>
            <a:br/>
            <a:r>
              <a:t>Target: -1.2 mbar (Negative Draft)</a:t>
            </a:r>
            <a:br/>
            <a:r>
              <a:t>Fast-acting anti-puff loop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679192"/>
            <a:ext cx="256032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 rIns="73152" bIns="36576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TIC-60226 / FIC-60205</a:t>
            </a:r>
          </a:p>
          <a:p>
            <a:pPr>
              <a:defRPr sz="800" b="1">
                <a:solidFill>
                  <a:srgbClr val="F43F5E"/>
                </a:solidFill>
              </a:defRPr>
            </a:pPr>
            <a:r>
              <a:t>Exhaust Temp / Moisture Cascade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PV: TT-60226 / TT-60240</a:t>
            </a:r>
            <a:br/>
            <a:r>
              <a:t>CV: PUPD-11 Slurry Pump VFD</a:t>
            </a:r>
            <a:br/>
            <a:r>
              <a:t>Target: 88 - 92 °C Outlet Air</a:t>
            </a:r>
            <a:br/>
            <a:r>
              <a:t>Controls powder moisture ~6%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95344"/>
            <a:ext cx="256032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 rIns="73152" bIns="36576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TIC-60202</a:t>
            </a:r>
          </a:p>
          <a:p>
            <a:pPr>
              <a:defRPr sz="800" b="1">
                <a:solidFill>
                  <a:srgbClr val="F43F5E"/>
                </a:solidFill>
              </a:defRPr>
            </a:pPr>
            <a:r>
              <a:t>Camera Purge Air Chilled Water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PV: TT-60202 (0-60°C)</a:t>
            </a:r>
            <a:br/>
            <a:r>
              <a:t>CV: TCV-60202 (3-Way Samson)</a:t>
            </a:r>
            <a:br/>
            <a:r>
              <a:t>Target: 22 - 25 °C Lens Cool</a:t>
            </a:r>
            <a:br/>
            <a:r>
              <a:t>Output: 4-20mA (C3S13,01)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111496"/>
            <a:ext cx="256032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 rIns="73152" bIns="36576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TIC-60215</a:t>
            </a:r>
          </a:p>
          <a:p>
            <a:pPr>
              <a:defRPr sz="800" b="1">
                <a:solidFill>
                  <a:srgbClr val="F43F5E"/>
                </a:solidFill>
              </a:defRPr>
            </a:pPr>
            <a:r>
              <a:t>Glycol Heat Recovery Loop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PV: TT-60215A/B Glycol Temp</a:t>
            </a:r>
            <a:br/>
            <a:r>
              <a:t>CV: PUCF-21 Circulation Pump</a:t>
            </a:r>
            <a:br/>
            <a:r>
              <a:t>Target: 60 °C Energy Recapture</a:t>
            </a:r>
            <a:br/>
            <a:r>
              <a:t>Exhaust Dewpoint Protection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097280"/>
            <a:ext cx="2743200" cy="530352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950" b="1">
                <a:solidFill>
                  <a:srgbClr val="A855F7"/>
                </a:solidFill>
              </a:defRPr>
            </a:pPr>
            <a:r>
              <a:t>ZONE 4 : CONVEYING, LEV &amp; UTILITY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463040"/>
            <a:ext cx="256032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 rIns="73152" bIns="36576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FIC-60201</a:t>
            </a:r>
          </a:p>
          <a:p>
            <a:pPr>
              <a:defRPr sz="800" b="1">
                <a:solidFill>
                  <a:srgbClr val="A855F7"/>
                </a:solidFill>
              </a:defRPr>
            </a:pPr>
            <a:r>
              <a:t>Powder Cooling Air Flow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PV: FT-60201 &amp; PT-60203</a:t>
            </a:r>
            <a:br/>
            <a:r>
              <a:t>CV: FANS-31 Conveying Fan VFD</a:t>
            </a:r>
            <a:br/>
            <a:r>
              <a:t>Target: 18 - 22 m/s Velocity</a:t>
            </a:r>
            <a:br/>
            <a:r>
              <a:t>Pneumatic Cyclone Discharge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2679192"/>
            <a:ext cx="256032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 rIns="73152" bIns="36576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PIC-61302</a:t>
            </a:r>
          </a:p>
          <a:p>
            <a:pPr>
              <a:defRPr sz="800" b="1">
                <a:solidFill>
                  <a:srgbClr val="A855F7"/>
                </a:solidFill>
              </a:defRPr>
            </a:pPr>
            <a:r>
              <a:t>Silo &amp; LEV Dust Extraction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PV: PT-61302 Vacuum Line</a:t>
            </a:r>
            <a:br/>
            <a:r>
              <a:t>CV: BF-61302 LEV Blower VFD</a:t>
            </a:r>
            <a:br/>
            <a:r>
              <a:t>Target: -15 mbar Negative Head</a:t>
            </a:r>
            <a:br/>
            <a:r>
              <a:t>ATEX Dust Containment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3895344"/>
            <a:ext cx="256032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 rIns="73152" bIns="36576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LIC-61301</a:t>
            </a:r>
          </a:p>
          <a:p>
            <a:pPr>
              <a:defRPr sz="800" b="1">
                <a:solidFill>
                  <a:srgbClr val="A855F7"/>
                </a:solidFill>
              </a:defRPr>
            </a:pPr>
            <a:r>
              <a:t>Packing Silo Level Balance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PV: LT-61301 Radar Level</a:t>
            </a:r>
            <a:br/>
            <a:r>
              <a:t>CV: Cyclone Rotary Valves</a:t>
            </a:r>
            <a:br/>
            <a:r>
              <a:t>Target: 20 - 80% Capacity</a:t>
            </a:r>
            <a:br/>
            <a:r>
              <a:t>Continuous Bagging Feed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5111496"/>
            <a:ext cx="2560320" cy="1143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lIns="73152" rIns="73152" bIns="36576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PIC-81001</a:t>
            </a:r>
          </a:p>
          <a:p>
            <a:pPr>
              <a:defRPr sz="800" b="1">
                <a:solidFill>
                  <a:srgbClr val="A855F7"/>
                </a:solidFill>
              </a:defRPr>
            </a:pPr>
            <a:r>
              <a:t>Boiler Remote Setpoint Tracking</a:t>
            </a:r>
          </a:p>
          <a:p>
            <a:pPr>
              <a:defRPr sz="750">
                <a:solidFill>
                  <a:srgbClr val="CBD5E1"/>
                </a:solidFill>
              </a:defRPr>
            </a:pPr>
            <a:r>
              <a:t>PV: Total Steam Demand (FT-60202)</a:t>
            </a:r>
            <a:br/>
            <a:r>
              <a:t>CV: External Remote Setpoint</a:t>
            </a:r>
            <a:br/>
            <a:r>
              <a:t>Target: Dynamic Steam Sync</a:t>
            </a:r>
            <a:br/>
            <a:r>
              <a:t>Output: 4-20mA (RIO-200)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38BDF8"/>
                </a:solidFill>
              </a:defRPr>
            </a:pPr>
            <a:r>
              <a:t>PROCESS AUTOMATION &amp; INSTRUMENTATION SPECIFICATION  |  INGREDION KALASIN — PROJECT SPRINT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FFFFFF"/>
                </a:solidFill>
              </a:defRPr>
            </a:pPr>
            <a:r>
              <a:t>AREA 402 : CONTINUOUS JET COOKER &amp; SLURRY PREPARATION CONTROL LOOPS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86400" cy="530352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JET COOKER THERMAL &amp; HYDRAULIC CONTROL (P&amp;ID: 325-01-402-PD-02)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5120640" cy="2331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TIC-40222 : Jet Cooker Direct Steam Cooking Temperature</a:t>
            </a:r>
          </a:p>
          <a:p>
            <a:pPr>
              <a:spcBef>
                <a:spcPts val="200"/>
              </a:spcBef>
              <a:defRPr sz="800">
                <a:solidFill>
                  <a:srgbClr val="CBD5E1"/>
                </a:solidFill>
              </a:defRPr>
            </a:pPr>
            <a:r>
              <a:t>• Process Variable (PV): Dual High-Precision RTDs TT-40221 &amp; TT-40222 (Duplex Pt100, 0–150°C)</a:t>
            </a:r>
          </a:p>
          <a:p>
            <a:pPr>
              <a:spcBef>
                <a:spcPts val="200"/>
              </a:spcBef>
              <a:defRPr sz="800">
                <a:solidFill>
                  <a:srgbClr val="CBD5E1"/>
                </a:solidFill>
              </a:defRPr>
            </a:pPr>
            <a:r>
              <a:t>• Set Point (SP): Nominal 120.0 °C to 140.0 °C (Recipe selectable for complete starch gelatinization)</a:t>
            </a:r>
          </a:p>
          <a:p>
            <a:pPr>
              <a:spcBef>
                <a:spcPts val="200"/>
              </a:spcBef>
              <a:defRPr sz="800">
                <a:solidFill>
                  <a:srgbClr val="CBD5E1"/>
                </a:solidFill>
              </a:defRPr>
            </a:pPr>
            <a:r>
              <a:t>• Control Variable (CV): TCV-40222 (Samson Type 3241 Globe Valve w/ Trovis 3730-1 Positioner)</a:t>
            </a:r>
          </a:p>
          <a:p>
            <a:pPr>
              <a:spcBef>
                <a:spcPts val="200"/>
              </a:spcBef>
              <a:defRPr sz="800">
                <a:solidFill>
                  <a:srgbClr val="CBD5E1"/>
                </a:solidFill>
              </a:defRPr>
            </a:pPr>
            <a:r>
              <a:t>• Hardware Interface: 4–20 mA Analog Output @ Chassis C3 Slot 13 Channel 00 (TCV-40222_AO_1)</a:t>
            </a:r>
          </a:p>
          <a:p>
            <a:pPr>
              <a:spcBef>
                <a:spcPts val="200"/>
              </a:spcBef>
              <a:defRPr sz="800">
                <a:solidFill>
                  <a:srgbClr val="CBD5E1"/>
                </a:solidFill>
              </a:defRPr>
            </a:pPr>
            <a:r>
              <a:t>• Fail-Safe Action: Fail Closed (FC) / Spring Closes on power or air loss. High-speed steam shutoff</a:t>
            </a:r>
          </a:p>
          <a:p>
            <a:pPr>
              <a:spcBef>
                <a:spcPts val="200"/>
              </a:spcBef>
              <a:defRPr sz="800">
                <a:solidFill>
                  <a:srgbClr val="CBD5E1"/>
                </a:solidFill>
              </a:defRPr>
            </a:pPr>
            <a:r>
              <a:t>• Control Philosophy: Fast-acting reverse-acting PID (Increase steam increases temp). PIDE executed at 100ms periodic task with derivative filter. High/Low deviation alarms (+/- 2.0°C) with auto-interlock to slurry feed pump to prevent unburst starch discharge.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886200"/>
            <a:ext cx="5120640" cy="2331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FIC-40203 : Jet Cooker Slurry Mass Feed Flow Rate Control</a:t>
            </a:r>
          </a:p>
          <a:p>
            <a:pPr>
              <a:spcBef>
                <a:spcPts val="200"/>
              </a:spcBef>
              <a:defRPr sz="800">
                <a:solidFill>
                  <a:srgbClr val="CBD5E1"/>
                </a:solidFill>
              </a:defRPr>
            </a:pPr>
            <a:r>
              <a:t>• Process Variable (PV): Coriolis Mass Flowmeter FT-40221 / FT-40222 (Dual channel mass flow + density)</a:t>
            </a:r>
          </a:p>
          <a:p>
            <a:pPr>
              <a:spcBef>
                <a:spcPts val="200"/>
              </a:spcBef>
              <a:defRPr sz="800">
                <a:solidFill>
                  <a:srgbClr val="CBD5E1"/>
                </a:solidFill>
              </a:defRPr>
            </a:pPr>
            <a:r>
              <a:t>• Set Point (SP): 4.50 to 7.50 t/h (Calibrated for exact reactor residence time)</a:t>
            </a:r>
          </a:p>
          <a:p>
            <a:pPr>
              <a:spcBef>
                <a:spcPts val="200"/>
              </a:spcBef>
              <a:defRPr sz="800">
                <a:solidFill>
                  <a:srgbClr val="CBD5E1"/>
                </a:solidFill>
              </a:defRPr>
            </a:pPr>
            <a:r>
              <a:t>• Control Variable (CV): PCY-40203 (Centrifugal Slurry Feed Pump PUCF-11 VFD Speed Reference)</a:t>
            </a:r>
          </a:p>
          <a:p>
            <a:pPr>
              <a:spcBef>
                <a:spcPts val="200"/>
              </a:spcBef>
              <a:defRPr sz="800">
                <a:solidFill>
                  <a:srgbClr val="CBD5E1"/>
                </a:solidFill>
              </a:defRPr>
            </a:pPr>
            <a:r>
              <a:t>• Hardware Interface: EtherNet/IP Industrial Bus link to MCC PowerFlex Drive (Chassis C7 Slot 00)</a:t>
            </a:r>
          </a:p>
          <a:p>
            <a:pPr>
              <a:spcBef>
                <a:spcPts val="200"/>
              </a:spcBef>
              <a:defRPr sz="800">
                <a:solidFill>
                  <a:srgbClr val="CBD5E1"/>
                </a:solidFill>
              </a:defRPr>
            </a:pPr>
            <a:r>
              <a:t>• Control Philosophy: Maintains constant mass flow regardless of slurry viscosity fluctuations. Tightly cascaded with Jet Cooker downstream infeed level (LT-40203) and interlocked with minimum flow switch FS-40205 to prevent pump cavitation.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486400" cy="530352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100" b="1">
                <a:solidFill>
                  <a:srgbClr val="14B8A6"/>
                </a:solidFill>
              </a:defRPr>
            </a:pPr>
            <a:r>
              <a:t>SLURRY CONDITIONING &amp; LEVEL BUFFER (P&amp;ID: 325-01-402-PD-01)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463040"/>
            <a:ext cx="5120640" cy="2331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pHTC-40201 &amp; pHTC-40202 : pH Adjustment Tank 1 &amp; Tank 2 Loops</a:t>
            </a:r>
          </a:p>
          <a:p>
            <a:pPr>
              <a:spcBef>
                <a:spcPts val="200"/>
              </a:spcBef>
              <a:defRPr sz="800">
                <a:solidFill>
                  <a:srgbClr val="CBD5E1"/>
                </a:solidFill>
              </a:defRPr>
            </a:pPr>
            <a:r>
              <a:t>• Process Variable (PV): pHT-40201 (Tank 1) &amp; pHT-40202 (Tank 2) — Mettler Toledo InPro 3250i + M300</a:t>
            </a:r>
          </a:p>
          <a:p>
            <a:pPr>
              <a:spcBef>
                <a:spcPts val="200"/>
              </a:spcBef>
              <a:defRPr sz="800">
                <a:solidFill>
                  <a:srgbClr val="CBD5E1"/>
                </a:solidFill>
              </a:defRPr>
            </a:pPr>
            <a:r>
              <a:t>• Set Point (SP): 5.80 to 6.20 pH (Strict enzymatic / processing window for modified starch)</a:t>
            </a:r>
          </a:p>
          <a:p>
            <a:pPr>
              <a:spcBef>
                <a:spcPts val="200"/>
              </a:spcBef>
              <a:defRPr sz="800">
                <a:solidFill>
                  <a:srgbClr val="CBD5E1"/>
                </a:solidFill>
              </a:defRPr>
            </a:pPr>
            <a:r>
              <a:t>• Control Variable (CV): Acid / Caustic Dosing Pumps PD-40204 &amp; PD-40205 (Stroke frequency / VSD)</a:t>
            </a:r>
          </a:p>
          <a:p>
            <a:pPr>
              <a:spcBef>
                <a:spcPts val="200"/>
              </a:spcBef>
              <a:defRPr sz="800">
                <a:solidFill>
                  <a:srgbClr val="CBD5E1"/>
                </a:solidFill>
              </a:defRPr>
            </a:pPr>
            <a:r>
              <a:t>• Hardware Interface: Modulated discrete pulse dosing / 4-20mA speed over RIO/MCC bus</a:t>
            </a:r>
          </a:p>
          <a:p>
            <a:pPr>
              <a:spcBef>
                <a:spcPts val="200"/>
              </a:spcBef>
              <a:defRPr sz="800">
                <a:solidFill>
                  <a:srgbClr val="CBD5E1"/>
                </a:solidFill>
              </a:defRPr>
            </a:pPr>
            <a:r>
              <a:t>• Control Philosophy: Dual-directional split-range neutralization PID. Non-linear gain scheduling applied around neutralization point (pH 7.0) to prevent severe reagent overshoot. Continuous automatic sensor cleaning cycle via SV-40201/02 water purge.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886200"/>
            <a:ext cx="5120640" cy="2331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LIC-40201 / 40202 / 40203 : Buffer Tank Level Regulation</a:t>
            </a:r>
          </a:p>
          <a:p>
            <a:pPr>
              <a:spcBef>
                <a:spcPts val="200"/>
              </a:spcBef>
              <a:defRPr sz="800">
                <a:solidFill>
                  <a:srgbClr val="CBD5E1"/>
                </a:solidFill>
              </a:defRPr>
            </a:pPr>
            <a:r>
              <a:t>• Process Variable (PV): Hydrostatic / Radar Level Transmitters LT-40201, LT-40202, LT-40203 (0–100%)</a:t>
            </a:r>
          </a:p>
          <a:p>
            <a:pPr>
              <a:spcBef>
                <a:spcPts val="200"/>
              </a:spcBef>
              <a:defRPr sz="800">
                <a:solidFill>
                  <a:srgbClr val="CBD5E1"/>
                </a:solidFill>
              </a:defRPr>
            </a:pPr>
            <a:r>
              <a:t>• Set Point (SP): 65.0% Working Level (Provides 30-minute hydraulic buffer between units)</a:t>
            </a:r>
          </a:p>
          <a:p>
            <a:pPr>
              <a:spcBef>
                <a:spcPts val="200"/>
              </a:spcBef>
              <a:defRPr sz="800">
                <a:solidFill>
                  <a:srgbClr val="CBD5E1"/>
                </a:solidFill>
              </a:defRPr>
            </a:pPr>
            <a:r>
              <a:t>• Control Variable (CV): Slurry transfer valves XV-40201E / XV-40202F &amp; transfer pumps PC-40201/02</a:t>
            </a:r>
          </a:p>
          <a:p>
            <a:pPr>
              <a:spcBef>
                <a:spcPts val="200"/>
              </a:spcBef>
              <a:defRPr sz="800">
                <a:solidFill>
                  <a:srgbClr val="CBD5E1"/>
                </a:solidFill>
              </a:defRPr>
            </a:pPr>
            <a:r>
              <a:t>• Safety Interlocks: Low-level cutoff (LSL) prevents pump dry-run; High-level cutoff (LSH) trips upstream feed and sounds audible plant horn.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38BDF8"/>
                </a:solidFill>
              </a:defRPr>
            </a:pPr>
            <a:r>
              <a:t>PROCESS AUTOMATION &amp; INSTRUMENTATION SPECIFICATION  |  INGREDION KALASIN — PROJECT SPRINT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FFFFFF"/>
                </a:solidFill>
              </a:defRPr>
            </a:pPr>
            <a:r>
              <a:t>AREA 602 : SPRAY DRYER THERMAL &amp; COMBUSTION CONTROL LOOPS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566160" cy="530352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100" b="1">
                <a:solidFill>
                  <a:srgbClr val="F43F5E"/>
                </a:solidFill>
              </a:defRPr>
            </a:pPr>
            <a:r>
              <a:t>TIC-60210 : DRYER INLET AIR TEMP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Process Function: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Master Thermal Drying Energy Loop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Process Variable (PV):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TT-60210 &amp; TT-60211 (Dual Duplex Thermocouples in Hot Air Duct DTHA-21, 0–300°C)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Set Point (SP):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185.0 °C to 205.0 °C (Product recipe dependent)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Control Variable (CV):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UY-FH-60210B (BMS Burner Demand Firing Rate 0–100%)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Hardware Channel: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4–20 mA AO @ Chassis C3 Slot 13 Channel 04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Actuator / Skid: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Direct-Fired Gas Air Heater AHTR-21 + Burner Controller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Fail-Safe State: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0% Firing Demand / Immediate Burner Trip on E-Stop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Tuning / Strategy: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High thermal inertia loop. Feedforward compensation from Main Airflow (FT-60210) dynamically adjusts fuel demand before duct temp sags. Interlocked with Burner Flame Safeguard.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097280"/>
            <a:ext cx="3566160" cy="530352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TIC-60214 : AIR PRE-HEATER STEAM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Process Function: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Fresh Air Steam Pre-Heating (Energy Recovery)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Process Variable (PV):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TT-60214 (PT100 Transmitter downstream of Heat Exchanger HXCH-21, 0–150°C)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Set Point (SP):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75.0 °C to 85.0 °C (Pre-heat base temperature)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Control Variable (CV):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TCV-60214 (Samson Type 3241 Globe Valve, NPS 2", Class 300, Cv 47 + Trovis 3730-1)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Hardware Channel: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4–20 mA AO @ Chassis C3 Slot 13 Channel 02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Actuator / Skid: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Shell &amp; Tube Steam Heat Exchanger HXCH-21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Fail-Safe State: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Fail Closed (FC) via internal mechanical spring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Tuning / Strategy: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Maximizes steam condensate energy before air enters gas burner, reducing LPG fuel consumption by up to 28%. Smooth PI control prevents thermal shock to exchanger tubes.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097280"/>
            <a:ext cx="3566160" cy="530352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PIC-60201 : MAIN STEAM HEADER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Process Function: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Plant High-Pressure Steam Pressure Reducing Station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Process Variable (PV):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PT-60201 (Endress+Hauser Cerabar PMP51B, calibrated 0–25 bar(g)) + TT-60201 Temp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Set Point (SP):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16.0 bar(g) (Stable header supply pressure)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Control Variable (CV):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PCV-60201 (Samson Type 3241 Globe Valve, NPS 4", Class 300, Cv 190 + Trovis 3730-1)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Hardware Channel: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4–20 mA AO @ Chassis C3 Slot 13 Channel 03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Actuator / Skid: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Main Steam Header PRV Station (Area 602-PD-02)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Fail-Safe State: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Fail Closed (FC) / Tight Shut-off Class IV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Tuning / Strategy: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Fast-response pressure loop (50ms task). Mitigates boiler pressure surges (16–20 bar) down to stable 16.0 bar for the dryer coils and jet cooker, eliminating thermal hunting.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38BDF8"/>
                </a:solidFill>
              </a:defRPr>
            </a:pPr>
            <a:r>
              <a:t>PROCESS AUTOMATION &amp; INSTRUMENTATION SPECIFICATION  |  INGREDION KALASIN — PROJECT SPRINT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FFFFFF"/>
                </a:solidFill>
              </a:defRPr>
            </a:pPr>
            <a:r>
              <a:t>AREA 602 : CHAMBER DRAFT, PRODUCT MOISTURE &amp; OPTICAL COOLING LOOPS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566160" cy="530352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100" b="1">
                <a:solidFill>
                  <a:srgbClr val="F43F5E"/>
                </a:solidFill>
              </a:defRPr>
            </a:pPr>
            <a:r>
              <a:t>PIC-60220 : CHAMBER DRAFT PRESSURE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Process Function: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Dryer Explosion &amp; Dust Containment Safety Loop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Process Variable (PV):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PT-60220 (Chamber Differential Draft, -10.0 to +10.0 mbar range)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Set Point (SP):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-1.20 mbar (-120 Pa slight negative pressure)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Control Variable (CV):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BFY-60240 (Main Exhaust Fan FANE-21 VFD Speed Reference 0–50 Hz)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Hardware Channel: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EtherNet/IP Communication Bus to MCC (Chassis C7 Slot 00)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Safety Interlocks: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PSL-60220 Low Pressure Switch &amp; PSH-60220 Chamber Overpressure Trip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Fail-Safe State: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Auto-Ramp to safe draft speed; immediate interlock trip on duct blockage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Control Strategy: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Highest safety priority in spray drying. If chamber goes positive (+mbar), hot flammable starch dust leaks into tower structure. High-speed anti-windup PIDE executes at 50ms with non-linear error filtering.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097280"/>
            <a:ext cx="3566160" cy="530352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r>
              <a:t>TIC-60226 : OUTLET TEMP / MOISTURE CASCADE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Process Function: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Final Starch Powder Moisture Regulation (~5.5-6.5%)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Process Variable (PV):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TT-60226 (Chamber Discharge Temp) &amp; TT-60240 (Baghouse Inlet, 0–150°C)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Set Point (SP):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88.0 °C to 92.0 °C (Directly correlates to powder residual moisture)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Control Variable (CV):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PCY-60205 (High-Pressure Slurry Feed Pump PUPD-11 VFD Speed Reference)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Secondary Feedback: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16 Ultrasonic Flow Transmitters FT-60261FA..FT-60264FR (individual nozzles)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Hardware Channel: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EtherNet/IP Bus link to High Pressure Pump VFD (Area 602-PD-01)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Fail-Safe State: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Auto-cutback slurry feed upon high chamber moisture or flame loss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Control Strategy: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Master/Slave Cascade. Master temp loop adjusts slurry feed flow rate: If outlet temp drops (powder too wet), feed rate is automatically reduced; if outlet temp climbs, feed rate is increased.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097280"/>
            <a:ext cx="3566160" cy="530352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TIC-60202 : CAMERA AIR CHILLED WATER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Process Function: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In-Chamber Optical Inspection Protection Loop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Process Variable (PV):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TT-60202 (Purge Air Temperature to High-Temp Camera ACAM-21, 0–60°C)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Set Point (SP):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22.0 °C to 25.0 °C (Maintains camera housing below electronics limit)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Control Variable (CV):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TCV-60202 / TV-60202 (Samson / ITQ40 3-Way Modulating Water Valve)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Hardware Channel: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4–20 mA AO @ Chassis C3 Slot 13 Channel 01 (TV-60202_AO_1)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Hardware Support: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FT-60207 (Purge Air Flow) &amp; PT-60207 (Purge Air Pressure)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Fail-Safe State: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Fail-to-Port A (100% Chilled Water bypass to heat exchanger on power loss)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Control Strategy: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Standard PI loop modulating chilled water bypass. Prevents condensation fogging on optical lenses while protecting sensitive camera sensors from 200°C chamber ambient heat.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38BDF8"/>
                </a:solidFill>
              </a:defRPr>
            </a:pPr>
            <a:r>
              <a:t>PROCESS AUTOMATION &amp; INSTRUMENTATION SPECIFICATION  |  INGREDION KALASIN — PROJECT SPRINT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FFFFFF"/>
                </a:solidFill>
              </a:defRPr>
            </a:pPr>
            <a:r>
              <a:t>AREA 602/613 &amp; UTILITIES : HEAT RECOVERY, CONVEYING &amp; BOILER SYNC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440680" cy="246888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000" b="1">
                <a:solidFill>
                  <a:srgbClr val="14B8A6"/>
                </a:solidFill>
              </a:defRPr>
            </a:pPr>
            <a:r>
              <a:t>TIC-60215 : GLYCOL HEAT RECOVERY RUN-AROUND LOOP</a:t>
            </a:r>
          </a:p>
          <a:p>
            <a:pPr>
              <a:spcBef>
                <a:spcPts val="150"/>
              </a:spcBef>
              <a:defRPr sz="780">
                <a:solidFill>
                  <a:srgbClr val="CBD5E1"/>
                </a:solidFill>
              </a:defRPr>
            </a:pPr>
            <a:r>
              <a:t>• Process Service: Exhaust Waste Heat Recapture Skid (PUCF-21 / HXCR-21, P&amp;ID: 325-01-602-PD-03)</a:t>
            </a:r>
          </a:p>
          <a:p>
            <a:pPr>
              <a:spcBef>
                <a:spcPts val="150"/>
              </a:spcBef>
              <a:defRPr sz="780">
                <a:solidFill>
                  <a:srgbClr val="CBD5E1"/>
                </a:solidFill>
              </a:defRPr>
            </a:pPr>
            <a:r>
              <a:t>• Process Variable (PV): TT-60215A &amp; TT-60215B (Glycol Supply &amp; Return Temp) + PT-60215 Pressure</a:t>
            </a:r>
          </a:p>
          <a:p>
            <a:pPr>
              <a:spcBef>
                <a:spcPts val="150"/>
              </a:spcBef>
              <a:defRPr sz="780">
                <a:solidFill>
                  <a:srgbClr val="CBD5E1"/>
                </a:solidFill>
              </a:defRPr>
            </a:pPr>
            <a:r>
              <a:t>• Set Point (SP): 55.0 °C to 65.0 °C (Maintains exhaust above acid/moisture condensation dew point)</a:t>
            </a:r>
          </a:p>
          <a:p>
            <a:pPr>
              <a:spcBef>
                <a:spcPts val="150"/>
              </a:spcBef>
              <a:defRPr sz="780">
                <a:solidFill>
                  <a:srgbClr val="CBD5E1"/>
                </a:solidFill>
              </a:defRPr>
            </a:pPr>
            <a:r>
              <a:t>• Control Variable (CV): PCY-60215 (Heat Recovery Centrifugal Circulation Pump PUCF-21 VFD Speed Reference)</a:t>
            </a:r>
          </a:p>
          <a:p>
            <a:pPr>
              <a:spcBef>
                <a:spcPts val="150"/>
              </a:spcBef>
              <a:defRPr sz="780">
                <a:solidFill>
                  <a:srgbClr val="CBD5E1"/>
                </a:solidFill>
              </a:defRPr>
            </a:pPr>
            <a:r>
              <a:t>• Control Strategy: Modulates 15% polypropylene glycol circulation rate between exhaust heat coil and fresh air preheater. Recovers up to 1.8 MW of thermal energy without fouling exhaust stack.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440680" cy="246888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000" b="1">
                <a:solidFill>
                  <a:srgbClr val="38BDF8"/>
                </a:solidFill>
              </a:defRPr>
            </a:pPr>
            <a:r>
              <a:t>FIC-60201 : POWDER COOLING &amp; PNEUMATIC CONVEYING</a:t>
            </a:r>
          </a:p>
          <a:p>
            <a:pPr>
              <a:spcBef>
                <a:spcPts val="150"/>
              </a:spcBef>
              <a:defRPr sz="780">
                <a:solidFill>
                  <a:srgbClr val="CBD5E1"/>
                </a:solidFill>
              </a:defRPr>
            </a:pPr>
            <a:r>
              <a:t>• Process Service: Cyclone Discharge Powder Chilling &amp; Conveying (P&amp;ID: 325-01-602-PD-08)</a:t>
            </a:r>
          </a:p>
          <a:p>
            <a:pPr>
              <a:spcBef>
                <a:spcPts val="150"/>
              </a:spcBef>
              <a:defRPr sz="780">
                <a:solidFill>
                  <a:srgbClr val="CBD5E1"/>
                </a:solidFill>
              </a:defRPr>
            </a:pPr>
            <a:r>
              <a:t>• Process Variable (PV): FT-60201 (Cold Conveying Air Mass Flow) &amp; PT-60203 (Duct Transport Pressure)</a:t>
            </a:r>
          </a:p>
          <a:p>
            <a:pPr>
              <a:spcBef>
                <a:spcPts val="150"/>
              </a:spcBef>
              <a:defRPr sz="780">
                <a:solidFill>
                  <a:srgbClr val="CBD5E1"/>
                </a:solidFill>
              </a:defRPr>
            </a:pPr>
            <a:r>
              <a:t>• Set Point (SP): 18.0 to 22.0 m/s Saltation Velocity (Prevents starch powder settling / line plugging)</a:t>
            </a:r>
          </a:p>
          <a:p>
            <a:pPr>
              <a:spcBef>
                <a:spcPts val="150"/>
              </a:spcBef>
              <a:defRPr sz="780">
                <a:solidFill>
                  <a:srgbClr val="CBD5E1"/>
                </a:solidFill>
              </a:defRPr>
            </a:pPr>
            <a:r>
              <a:t>• Control Variable (CV): BFY-60206 (Cooling / Conveying Fan FANS-31 VFD Speed Reference)</a:t>
            </a:r>
          </a:p>
          <a:p>
            <a:pPr>
              <a:spcBef>
                <a:spcPts val="150"/>
              </a:spcBef>
              <a:defRPr sz="780">
                <a:solidFill>
                  <a:srgbClr val="CBD5E1"/>
                </a:solidFill>
              </a:defRPr>
            </a:pPr>
            <a:r>
              <a:t>• Control Strategy: Rapidly cools warm powder exiting cyclone below starch glass transition point (45°C) to prevent caking and agglomeration during transfer to storage silos.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749039"/>
            <a:ext cx="5440680" cy="246888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PIC-61302 : SILO VENTING &amp; LEV DUST EXTRACTION VACUUM</a:t>
            </a:r>
          </a:p>
          <a:p>
            <a:pPr>
              <a:spcBef>
                <a:spcPts val="150"/>
              </a:spcBef>
              <a:defRPr sz="780">
                <a:solidFill>
                  <a:srgbClr val="CBD5E1"/>
                </a:solidFill>
              </a:defRPr>
            </a:pPr>
            <a:r>
              <a:t>• Process Service: Packaging Silo &amp; Bagging Station Dust Capture (P&amp;ID: 325-01-613-PD-01 to PD-05)</a:t>
            </a:r>
          </a:p>
          <a:p>
            <a:pPr>
              <a:spcBef>
                <a:spcPts val="150"/>
              </a:spcBef>
              <a:defRPr sz="780">
                <a:solidFill>
                  <a:srgbClr val="CBD5E1"/>
                </a:solidFill>
              </a:defRPr>
            </a:pPr>
            <a:r>
              <a:t>• Process Variable (PV): PT-61302 (Vacuum Duct Pressure) &amp; DPT-61301/02 (Vent Filter Differential Pressure)</a:t>
            </a:r>
          </a:p>
          <a:p>
            <a:pPr>
              <a:spcBef>
                <a:spcPts val="150"/>
              </a:spcBef>
              <a:defRPr sz="780">
                <a:solidFill>
                  <a:srgbClr val="CBD5E1"/>
                </a:solidFill>
              </a:defRPr>
            </a:pPr>
            <a:r>
              <a:t>• Set Point (SP): -15.0 mbar Negative Pressure at LEV Pick-up Hoods</a:t>
            </a:r>
          </a:p>
          <a:p>
            <a:pPr>
              <a:spcBef>
                <a:spcPts val="150"/>
              </a:spcBef>
              <a:defRPr sz="780">
                <a:solidFill>
                  <a:srgbClr val="CBD5E1"/>
                </a:solidFill>
              </a:defRPr>
            </a:pPr>
            <a:r>
              <a:t>• Control Variable (CV): BFY-61302 (LEV Blower Fan BF-61302 VFD) &amp; BFY-61303 (Fugitive Dust Fan VFD)</a:t>
            </a:r>
          </a:p>
          <a:p>
            <a:pPr>
              <a:spcBef>
                <a:spcPts val="150"/>
              </a:spcBef>
              <a:defRPr sz="780">
                <a:solidFill>
                  <a:srgbClr val="CBD5E1"/>
                </a:solidFill>
              </a:defRPr>
            </a:pPr>
            <a:r>
              <a:t>• Control Strategy: Maintains negative capture velocity across packing heads. Automatically triggers pulse-jet reverse air filter cleaning (SV-61310) when DPT exceeds 12.0 mbar.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749039"/>
            <a:ext cx="5440680" cy="246888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000" b="1">
                <a:solidFill>
                  <a:srgbClr val="A855F7"/>
                </a:solidFill>
              </a:defRPr>
            </a:pPr>
            <a:r>
              <a:t>PIC-81001 : BOILER STEAM DEMAND REMOTE SETPOINT SYNC</a:t>
            </a:r>
          </a:p>
          <a:p>
            <a:pPr>
              <a:spcBef>
                <a:spcPts val="150"/>
              </a:spcBef>
              <a:defRPr sz="780">
                <a:solidFill>
                  <a:srgbClr val="CBD5E1"/>
                </a:solidFill>
              </a:defRPr>
            </a:pPr>
            <a:r>
              <a:t>• Process Service: Utility Boiler Steam Synchronization Skid (P&amp;ID: 325-01-814-PD-01 / RIO-200)</a:t>
            </a:r>
          </a:p>
          <a:p>
            <a:pPr>
              <a:spcBef>
                <a:spcPts val="150"/>
              </a:spcBef>
              <a:defRPr sz="780">
                <a:solidFill>
                  <a:srgbClr val="CBD5E1"/>
                </a:solidFill>
              </a:defRPr>
            </a:pPr>
            <a:r>
              <a:t>• Process Variable (PV): Instantaneous Plant Steam Flow FT-60202 + FT-60203 &amp; Steam Header Pressure PT-60201</a:t>
            </a:r>
          </a:p>
          <a:p>
            <a:pPr>
              <a:spcBef>
                <a:spcPts val="150"/>
              </a:spcBef>
              <a:defRPr sz="780">
                <a:solidFill>
                  <a:srgbClr val="CBD5E1"/>
                </a:solidFill>
              </a:defRPr>
            </a:pPr>
            <a:r>
              <a:t>• Set Point (SP): Dynamic Steam Demand Tracking (Feedforward compensation)</a:t>
            </a:r>
          </a:p>
          <a:p>
            <a:pPr>
              <a:spcBef>
                <a:spcPts val="150"/>
              </a:spcBef>
              <a:defRPr sz="780">
                <a:solidFill>
                  <a:srgbClr val="CBD5E1"/>
                </a:solidFill>
              </a:defRPr>
            </a:pPr>
            <a:r>
              <a:t>• Control Variable (CV): External Remote Setpoint (4–20 mA AO from RIO-200 to Boiler Modulation Skid)</a:t>
            </a:r>
          </a:p>
          <a:p>
            <a:pPr>
              <a:spcBef>
                <a:spcPts val="150"/>
              </a:spcBef>
              <a:defRPr sz="780">
                <a:solidFill>
                  <a:srgbClr val="CBD5E1"/>
                </a:solidFill>
              </a:defRPr>
            </a:pPr>
            <a:r>
              <a:t>• Control Strategy: Feedforward boiler firing setpoint sent before large steam valves (PCV-60201 / TCV-40222) ramp up, eliminating boiler pressure sags during plant startup and batch switching.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38BDF8"/>
                </a:solidFill>
              </a:defRPr>
            </a:pPr>
            <a:r>
              <a:t>PROCESS AUTOMATION &amp; INSTRUMENTATION SPECIFICATION  |  INGREDION KALASIN — PROJECT SPRINT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FFFFFF"/>
                </a:solidFill>
              </a:defRPr>
            </a:pPr>
            <a:r>
              <a:t>MASTER PID LOOP ENGINEERING SCHEDULE &amp; I/O ALLOCATION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97280"/>
          <a:ext cx="114300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103120"/>
                <a:gridCol w="1188720"/>
                <a:gridCol w="1371600"/>
                <a:gridCol w="1005840"/>
                <a:gridCol w="1737360"/>
                <a:gridCol w="1188720"/>
                <a:gridCol w="731520"/>
                <a:gridCol w="1097280"/>
              </a:tblGrid>
              <a:tr h="311971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8BDF8"/>
                          </a:solidFill>
                        </a:defRPr>
                      </a:pPr>
                      <a:r>
                        <a:t>Loop Tag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8BDF8"/>
                          </a:solidFill>
                        </a:defRPr>
                      </a:pPr>
                      <a:r>
                        <a:t>Process Service Description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8BDF8"/>
                          </a:solidFill>
                        </a:defRPr>
                      </a:pPr>
                      <a:r>
                        <a:t>P&amp;ID Drawing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8BDF8"/>
                          </a:solidFill>
                        </a:defRPr>
                      </a:pPr>
                      <a:r>
                        <a:t>PV Sensor Tag(s)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8BDF8"/>
                          </a:solidFill>
                        </a:defRPr>
                      </a:pPr>
                      <a:r>
                        <a:t>Nominal SP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8BDF8"/>
                          </a:solidFill>
                        </a:defRPr>
                      </a:pPr>
                      <a:r>
                        <a:t>Final Control Element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8BDF8"/>
                          </a:solidFill>
                        </a:defRPr>
                      </a:pPr>
                      <a:r>
                        <a:t>I/O Interface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8BDF8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38BDF8"/>
                          </a:solidFill>
                        </a:defRPr>
                      </a:pPr>
                      <a:r>
                        <a:t>Fail State</a:t>
                      </a:r>
                    </a:p>
                  </a:txBody>
                  <a:tcPr>
                    <a:solidFill>
                      <a:srgbClr val="26344B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59E0B"/>
                          </a:solidFill>
                        </a:defRPr>
                      </a:pPr>
                      <a:r>
                        <a:t>TIC-40222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Jet Cooker Direct Steam Cooking Temp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325-01-402-PD-02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TT-40221 / TT-40222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120–140 °C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TCV-40222 (Samson 3241)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4-20mA (C3S13,00)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Rev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Fail Closed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4B8A6"/>
                          </a:solidFill>
                        </a:defRPr>
                      </a:pPr>
                      <a:r>
                        <a:t>FIC-40203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Jet Cooker Slurry Mass Flow Control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325-01-402-PD-02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FT-40221 / FT-40222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4.5–7.5 t/h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PUCF-11 Slurry Pump VFD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EtherNet/IP Bus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Rev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Stop on Fail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4B8A6"/>
                          </a:solidFill>
                        </a:defRPr>
                      </a:pPr>
                      <a:r>
                        <a:t>pHTC-40201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pH Adjustment Tank 1 Conditioning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325-01-402-PD-01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pHT-40201 (0–14 pH)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5.8–6.2 pH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PD-40204 Dosing Pump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Discrete/Speed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Split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Stop on Fail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4B8A6"/>
                          </a:solidFill>
                        </a:defRPr>
                      </a:pPr>
                      <a:r>
                        <a:t>pHTC-40202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pH Adjustment Tank 2 Conditioning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325-01-402-PD-01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pHT-40202 (0–14 pH)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5.8–6.2 pH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PD-40205 Dosing Pump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Discrete/Speed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Split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Stop on Fail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43F5E"/>
                          </a:solidFill>
                        </a:defRPr>
                      </a:pPr>
                      <a:r>
                        <a:t>PIC-60201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Spray Dryer Main Steam Header Press.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325-01-602-PD-02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PT-60201 (0–25 bar)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16.0 bar(g)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PCV-60201 (Samson NPS 4")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4-20mA (C3S13,03)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Rev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Fail Closed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59E0B"/>
                          </a:solidFill>
                        </a:defRPr>
                      </a:pPr>
                      <a:r>
                        <a:t>TIC-60214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Air Pre-Heater Steam Exchanger Temp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325-01-602-PD-03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TT-60214 (0–150°C)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75–85 °C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TCV-60214 (Samson NPS 2")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4-20mA (C3S13,02)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Rev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Fail Closed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59E0B"/>
                          </a:solidFill>
                        </a:defRPr>
                      </a:pPr>
                      <a:r>
                        <a:t>TIC-60210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Dryer Inlet Air Heating Temperature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325-01-602-PD-06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TT-60210 / TT-60211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185–205 °C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UY-FH-60210B (BMS Demand)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4-20mA (C3S13,04)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Rev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0% Demand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4B8A6"/>
                          </a:solidFill>
                        </a:defRPr>
                      </a:pPr>
                      <a:r>
                        <a:t>FIC-60210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Main Supply Air Flow Rate Control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325-01-602-PD-03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FT-60210 / FT-60211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32,000 Nm³/h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FANS-21 Supply Fan VFD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EtherNet/IP Bus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Rev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Coast / Stop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4B8A6"/>
                          </a:solidFill>
                        </a:defRPr>
                      </a:pPr>
                      <a:r>
                        <a:t>FIC-60211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Burner Combustion Air Flow / Ratio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325-01-602-PD-03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PT-60216 / TT-60216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Ratio to Gas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FANC-21 Comb. Fan VFD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EtherNet/IP Bus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Rev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Coast / Purge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43F5E"/>
                          </a:solidFill>
                        </a:defRPr>
                      </a:pPr>
                      <a:r>
                        <a:t>PIC-60220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Dryer Chamber Draft Pressure (Safety)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325-01-602-PD-04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PT-60220 (-10..+10 mbar)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-1.20 mbar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FANE-21 Exhaust Fan VFD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EtherNet/IP Bus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Direct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Safe Ramp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59E0B"/>
                          </a:solidFill>
                        </a:defRPr>
                      </a:pPr>
                      <a:r>
                        <a:t>TIC-60226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Exhaust Temp / Moisture Cascade Loop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325-01-602-PD-04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TT-60226 / TT-60240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88–92 °C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PUPD-11 Slurry Pump VFD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EtherNet/IP Bus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Direct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Auto Cutback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59E0B"/>
                          </a:solidFill>
                        </a:defRPr>
                      </a:pPr>
                      <a:r>
                        <a:t>TIC-60202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Camera Purge Air Chilled Water Temp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325-01-602-PD-07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TT-60202 (0–60°C)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22–25 °C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TCV-60202 (3-Way Valve)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4-20mA (C3S13,01)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Direct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Fail Port A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59E0B"/>
                          </a:solidFill>
                        </a:defRPr>
                      </a:pPr>
                      <a:r>
                        <a:t>TIC-60215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Glycol Heat Recovery Circulation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325-01-602-PD-03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TT-60215A / TT-60215B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55–65 °C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PUCF-21 Glycol Pump VFD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EtherNet/IP Bus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Rev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Modulate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14B8A6"/>
                          </a:solidFill>
                        </a:defRPr>
                      </a:pPr>
                      <a:r>
                        <a:t>FIC-60201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Powder Cooling &amp; Conveying Air Flow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325-01-602-PD-08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FT-60201 / PT-60203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18–22 m/s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FANS-31 Conveying Fan VFD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EtherNet/IP Bus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Rev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Coast / Stop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  <a:tr h="311971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43F5E"/>
                          </a:solidFill>
                        </a:defRPr>
                      </a:pPr>
                      <a:r>
                        <a:t>PIC-61302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Packing Silo &amp; LEV Extraction Vacuum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325-01-613-PD-03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PT-61302 (-50..0 mbar)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-15 mbar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BF-61302 LEV Blower VFD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EtherNet/IP Bus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Direct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Modulate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1198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43F5E"/>
                          </a:solidFill>
                        </a:defRPr>
                      </a:pPr>
                      <a:r>
                        <a:t>PIC-81001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Boiler Steam Demand Remote Sync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325-01-814-PD-01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Total Steam (FT-60202)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Feedforward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Remote Setpoint to Boiler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CBD5E1"/>
                          </a:solidFill>
                        </a:defRPr>
                      </a:pPr>
                      <a:r>
                        <a:t>4-20mA (RIO-200)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Direct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50">
                          <a:solidFill>
                            <a:srgbClr val="FFFFFF"/>
                          </a:solidFill>
                        </a:defRPr>
                      </a:pPr>
                      <a:r>
                        <a:t>Demand Safe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1277295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 b="1">
                <a:solidFill>
                  <a:srgbClr val="38BDF8"/>
                </a:solidFill>
              </a:defRPr>
            </a:pPr>
            <a:r>
              <a:t>PROCESS AUTOMATION &amp; INSTRUMENTATION SPECIFICATION  |  INGREDION KALASIN — PROJECT SPRINT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FFFFFF"/>
                </a:solidFill>
              </a:defRPr>
            </a:pPr>
            <a:r>
              <a:t>ROCKWELL CONTROLLOGIX PIDE ARCHITECTURE &amp; FACTORYTALK VIEW SE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566160" cy="530352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CONTROLLOGIX PIDE INSTRUCTION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Algorithm Type: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Enhanced PID (PIDE) in Function Block Diagram (FBD) / Periodic Tasks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Task Execution Rates: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Pressure &amp; Draft Loops (PIC-60220, PIC-60201): 50 ms Periodic Task</a:t>
            </a:r>
            <a:br/>
            <a:r>
              <a:t>• Flow &amp; Speed Loops (FIC-40203, FIC-60210): 100 ms Periodic Task</a:t>
            </a:r>
            <a:br/>
            <a:r>
              <a:t>• Temperature &amp; pH Loops (TIC-40222, TIC-60210): 250 ms Periodic Task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Operating Modes: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Hand (Operator Manual CV override via HMI)</a:t>
            </a:r>
            <a:br/>
            <a:r>
              <a:t>• Auto (Automatic regulation to Local Setpoint)</a:t>
            </a:r>
            <a:br/>
            <a:r>
              <a:t>• Cascade (Remote Setpoint from supervisory cascade)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Anti-Windup &amp; Clamping: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Built-in dynamic CV upper/lower limits (CVHighLimit = 100%, CVLowLimit = 0%) and programmable slew rate clamping (%/sec) to prevent actuator hammering.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Derivative Filtering: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Low-pass derivative filter applied to PV (not error) to eliminate electrical sensor noise spikes from kicking control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097280"/>
            <a:ext cx="3566160" cy="530352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ADVANCED PROCESS STRATEGIES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Chamber Draft Feedforward: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Combines Exhaust Fan speed with Main Air Supply Fan speed feedforward (FANE-21 tracks FANS-21) to cancel transient draft surges during air startup.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Burner Firing Heat Decoupling: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Ratio decoupling between combustion airflow and gas demand (UY-FH-60210B) ensures stoichiometric flame profile during load ramps.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Slurry Moisture Cascade: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Outer Temperature Loop (TIC-60226) outputs Remote SP to Inner Slurry Mass Flow Loop (FIC-40205) for high-fidelity moisture containment.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Dual Duplex Sensor Validation: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High-temp RTDs/TCs (TT-40221/22 and TT-60210/11) utilize 2-out-of-2 deviation monitoring. Sensor drift (&gt;3°C) generates preventive maintenance alarm.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097280"/>
            <a:ext cx="3566160" cy="5303520"/>
          </a:xfrm>
          <a:prstGeom prst="roundRect">
            <a:avLst/>
          </a:prstGeom>
          <a:solidFill>
            <a:srgbClr val="182235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100" b="1">
                <a:solidFill>
                  <a:srgbClr val="22C55E"/>
                </a:solidFill>
              </a:defRPr>
            </a:pPr>
            <a:r>
              <a:t>FACTORYTALK VIEW SE HMI STANDARD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PlantPAx Faceplates: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Standardized ISA-101 high-performance HMI faceplates deployed across 3 Operator Workstations (OWS) and 1 EWS.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Operator Interaction: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• One-click Auto / Manual / Cascade toggling</a:t>
            </a:r>
            <a:br/>
            <a:r>
              <a:t>• Visual SP / PV / CV real-time bar graphs</a:t>
            </a:r>
            <a:br/>
            <a:r>
              <a:t>• Dedicated Tuning tab with P, I, D gains, Deadband &amp; Filter coefficients</a:t>
            </a:r>
            <a:br/>
            <a:r>
              <a:t>• Historical trending with 1-second sample rate</a:t>
            </a:r>
          </a:p>
          <a:p>
            <a:pPr>
              <a:spcBef>
                <a:spcPts val="300"/>
              </a:spcBef>
              <a:defRPr sz="850" b="1">
                <a:solidFill>
                  <a:srgbClr val="FFFFFF"/>
                </a:solidFill>
              </a:defRPr>
            </a:pPr>
            <a:r>
              <a:t>Alarm Management:</a:t>
            </a:r>
          </a:p>
          <a:p>
            <a:pPr>
              <a:defRPr sz="800">
                <a:solidFill>
                  <a:srgbClr val="CBD5E1"/>
                </a:solidFill>
              </a:defRPr>
            </a:pPr>
            <a:r>
              <a:t>EEMUA 191 / ISA-18.2 compliant alarming:</a:t>
            </a:r>
            <a:br/>
            <a:r>
              <a:t>• PV High-High (Emergency Interlock Trip)</a:t>
            </a:r>
            <a:br/>
            <a:r>
              <a:t>• PV High / Low (Process Warning)</a:t>
            </a:r>
            <a:br/>
            <a:r>
              <a:t>• Deviation Alarm (Control Loop Degradation)</a:t>
            </a:r>
            <a:br/>
            <a:r>
              <a:t>• Transmitter Out-of-Range (Bad PV Quality)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