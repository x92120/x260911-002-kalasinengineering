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INGREDION (THAILAND) CO., LTD. - KALASIN PLANT</a:t>
            </a:r>
          </a:p>
          <a:p>
            <a:pPr>
              <a:defRPr sz="2000" b="1">
                <a:solidFill>
                  <a:srgbClr val="E2E8F0"/>
                </a:solidFill>
              </a:defRPr>
            </a:pPr>
            <a:r>
              <a:t>PROJECT JET COOKER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Interconnection Cable Schedule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Complete Multi-Core &amp; Trunk Routing Between MCC / CA1 Suite and Field Junction Boxes</a:t>
            </a:r>
          </a:p>
          <a:p>
            <a:br/>
            <a:pPr>
              <a:defRPr sz="1100">
                <a:solidFill>
                  <a:srgbClr val="F59E0B"/>
                </a:solidFill>
              </a:defRPr>
            </a:pPr>
            <a:r>
              <a:t>Document No: CA1-SCH-CBL-001 | Revision: 3.6 | Date: September 2026</a:t>
            </a:r>
            <a:br/>
            <a:r>
              <a:t>Engineering Contractor: AEC Industrial Engineering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SYSTEM ARCHITECTURE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Overall Cable Routing &amp; Signal Segregation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Physical pathways from MCC Room to Infeed, Jet Cooker, Spray Dryer, Packing Tower, and Slurry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2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</a:defRPr>
            </a:pPr>
            <a:r>
              <a:t>Substation to Process Spine (TR-01)</a:t>
            </a:r>
          </a:p>
          <a:p>
            <a:br/>
            <a:pPr>
              <a:defRPr sz="950">
                <a:solidFill>
                  <a:srgbClr val="0F172A"/>
                </a:solidFill>
              </a:defRPr>
            </a:pPr>
            <a:r>
              <a:t>Main heavy-duty hot-dip galvanized ladder tray (600x100mm) running from MCC room basement trench across overhead pipe rack.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</a:defRPr>
            </a:pPr>
            <a:r>
              <a:t>Spray Dryer Riser Shaft (TR-SD)</a:t>
            </a:r>
          </a:p>
          <a:p>
            <a:br/>
            <a:pPr>
              <a:defRPr sz="950">
                <a:solidFill>
                  <a:srgbClr val="0F172A"/>
                </a:solidFill>
              </a:defRPr>
            </a:pPr>
            <a:r>
              <a:t>Vertical cable riser traversing 1st to 8th floors. Segregated trays for Non-IS Control, Analog Shielded, and Ex-i Intrinsically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</a:defRPr>
            </a:pPr>
            <a:r>
              <a:t>Packing Tower Riser (TR-PT)</a:t>
            </a:r>
          </a:p>
          <a:p>
            <a:br/>
            <a:pPr>
              <a:defRPr sz="950">
                <a:solidFill>
                  <a:srgbClr val="0F172A"/>
                </a:solidFill>
              </a:defRPr>
            </a:pPr>
            <a:r>
              <a:t>Heavy-duty ladder tray for 2nd and 8th floor junction boxes. Blue-coated Ex-i dedicated cable tray with 300mm air gap separation.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</a:defRPr>
            </a:pPr>
            <a:r>
              <a:t>Slurry Building Fiber Trunk (TR-EXT)</a:t>
            </a:r>
          </a:p>
          <a:p>
            <a:br/>
            <a:pPr>
              <a:defRPr sz="950">
                <a:solidFill>
                  <a:srgbClr val="0F172A"/>
                </a:solidFill>
              </a:defRPr>
            </a:pPr>
            <a:r>
              <a:t>Overhead pipe rack route to remote building housing RIO-200. 6-core steel wire armoured fiber optic DLR ring backbone.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E36"/>
                </a:solidFill>
              </a:defRPr>
            </a:pPr>
            <a:r>
              <a:t>ENGINEERING SEGREGATION &amp; INSTALLATION RULES (IEC 60079-14 &amp; IEEE 518)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Intrinsically Safe (Ex-i) Cables: Distinctive BLUE outer sheath (RAL 5015). Maintain &gt;= 300 mm clearance or solid grounded divider from power/control.</a:t>
            </a:r>
            <a:br/>
            <a:r>
              <a:t>2. Shield Grounding: All overall and individual pair screens grounded at MCC Cabinet single-point clean earth bar ONLY. Field ends insulated and floating.</a:t>
            </a:r>
            <a:br/>
            <a:r>
              <a:t>3. Spare Capacity: All multicore control cables sized with 20% to 35% installed spare conductors for future process expansion.</a:t>
            </a:r>
            <a:br/>
            <a:r>
              <a:t>4. Cable Glands: Nickel-plated brass double-compression EMC cable glands (IP66) on standard JBs; Ex-e/Ex-i certified blue-ring glands on Ex-i JBs.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INTERCONNECTION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Panel M1 Interconnection Cable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Master Controller Bay (=CA1+MCP-M1) serving Infeed (JB-401), Spray Dryer 1F (JB-601), and Slurry (RIO-200)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3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1645920"/>
                <a:gridCol w="1645920"/>
                <a:gridCol w="219456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Tag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 (JB)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Function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Len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CBL-M1-JB401-01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Infeed 2nd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48C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TR-IN-01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CBL-M1-JB401-02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Infeed 2nd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 Extension &amp; Spares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30C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TR-IN-01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CBL-M1-JB401-03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Infeed 2nd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TR-IN-01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CBL-M1-JB401-04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Infeed 2nd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Inputs (AI)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16P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TR-IN-01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CBL-M1-JB601-01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1st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60C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CBL-M1-JB601-02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1st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70m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CBL-M1-JB601-03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1st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Inputs (AI)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16P x 1.0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CBL-M1-RIO200-FO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RIO-200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Slurry Out Bldg 2F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Redundant DLR Ethernet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6-Core Armoured SM Fiber (OS2)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TR-EXT-01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CBL-M1-RIO200-PWR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RIO-200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Slurry Out Bldg 2F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230VAC UPS Power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XLPE/SWA/PVC 3C x 4.0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TR-EXT-01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INTERCONNECTION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Panel M2 Interconnection Cable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High-Density I/O Bay (=CA1+MCP-M2) serving Jet Cooker (JB-402), Spray Dryer 3F (JB-602), and Spray Dryer 7F (JB-607)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4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1645920"/>
                <a:gridCol w="1645920"/>
                <a:gridCol w="219456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Tag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 (JB)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Function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Len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CBL-M2-JB402-01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Jet Cooker 2nd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TR-JC-01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CBL-M2-JB402-02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Jet Cooker 2nd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TR-JC-01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CBL-M2-JB402-03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JB-402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Jet Cooker 2nd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Inputs &amp; 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20P x 1.0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TR-JC-01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CBL-M2-JB602-01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3rd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CBL-M2-JB602-02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3rd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CBL-M2-JB602-03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3rd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Inputs &amp; AO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36P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CBL-M2-JB607-01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7th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 Pt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60C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CBL-M2-JB607-02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7th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Inputs (DI) Pt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60C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CBL-M2-JB607-03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7th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 Pt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48C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CBL-M2-JB607-04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7th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Digital Outputs (DO) Pt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30C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CBL-M2-JB607-05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7th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Inputs &amp; 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40P x 1.0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INTERCONNECTION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Panel M3 Intrinsically Safe (Ex-i) Cable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Ex-i Hazardous Area Bay 1 (=CA1+MCP-M3) with Pepperl+Fuchs Isolators serving IS-JB-603, IS-JB-618, and JB-618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5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1645920"/>
                <a:gridCol w="1645920"/>
                <a:gridCol w="219456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Tag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 (JB)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Function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Len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CBL-M3-ISJB603-01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IS-JB-603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3rd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Digital Inputs (DI)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CVV-S (IS) 24C x 1.5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CBL-M3-ISJB603-02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IS-JB-603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3rd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Analog Inputs (AI)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IS/OS/PVC (IS) 16P x 1.0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CBL-M3-ISJB618-01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IS-JB-618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8th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Digital Inputs (DI)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CVV-S (IS) 40C x 1.5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140m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CBL-M3-ISJB618-02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IS-JB-618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8th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Analog Inputs (AI)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IS/OS/PVC (IS) 16P x 1.0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140m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CBL-M3-JB618-01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8th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DI &amp;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CBL-M3-JB618-02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8th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Digital Outputs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140m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INTERCONNECTION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Panel M4 Intrinsically Safe (Ex-i) Cable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Ex-i Hazardous Area Bay 2 (=CA1+MCP-M4) serving IS-JB-608, IS-JB-612, JB-606, JB-608, and JB-612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6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1645920"/>
                <a:gridCol w="1645920"/>
                <a:gridCol w="219456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Tag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 (JB)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Function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Len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CBL-M4-ISJB608-01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IS-JB-608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8th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DI &amp; DO Signals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CVV-S (IS) 30C x 1.5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135m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CBL-M4-ISJB608-02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IS-JB-608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8th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Analog Inputs (AI)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IS/OS/PVC (IS) 10P x 1.0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135m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CBL-M4-ISJB612-01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IS-JB-612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2nd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Digital Inputs (DI)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CVV-S (IS) 40C x 1.5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CBL-M4-ISJB612-02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IS-JB-612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2nd Flr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Analog Inputs (AI)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284C7"/>
                          </a:solidFill>
                        </a:defRPr>
                      </a:pPr>
                      <a:r>
                        <a:t>IS/OS/PVC (IS) 12P x 1.0 mm2 [BLUE]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TR-PT-IS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65m</a:t>
                      </a:r>
                    </a:p>
                  </a:txBody>
                  <a:tcPr anchor="ctr">
                    <a:solidFill>
                      <a:srgbClr val="EE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CBL-M4-JB606-01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6th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DI, DO &amp;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30C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CBL-M4-JB608-01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Spray Dryer 8th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Analog Inputs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8P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TR-SD-03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135m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CBL-M4-JB612-01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2nd Flr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Digital Inputs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CBL-M4-JB612-02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JB-612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Packing Tower 2nd Flr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Non-IS DO &amp; AI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+ 10P x 1.0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TR-PT-01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INTERCONNECTION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MCC Switchgear &amp; Remote I/O Trunk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Hardwired control interlocks to Motor Control Center switchgear and Armoured Fiber link to RIO-200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7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1645920"/>
                <a:gridCol w="1645920"/>
                <a:gridCol w="219456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Tag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 (JB)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Function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Len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CBL-M1-RIO200-FO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RIO-200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Slurry Out Bldg 2F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Redundant DLR Ethernet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6-Core Armoured SM Fiber (OS2)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TR-EXT-01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CBL-M1-RIO200-PWR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RIO-200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Slurry Out Bldg 2F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230VAC UPS Power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XLPE/SWA/PVC 3C x 4.0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TR-EXT-01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CBL-M1-MCC-01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Lineup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Motor Feedback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2x CVV-S 48C + 36C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TR-MCC-01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CBL-M1-MCC-02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Lineup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Room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Motor Command Signals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2x CVV-S 48C + 24C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TR-MCC-01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25m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CBL-M1-MCC-NET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Panel 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Lineup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MCC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Smart Overloads (E300)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Armoured Industrial Cat6A DLR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TR-MCC-01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PROCUREMENT SCHEDULE</a:t>
            </a:r>
          </a:p>
          <a:p>
            <a:pPr>
              <a:defRPr sz="2000" b="1">
                <a:solidFill>
                  <a:srgbClr val="0F1E36"/>
                </a:solidFill>
              </a:defRPr>
            </a:pPr>
            <a:r>
              <a:t>Master Cable Bill of Quantities (BOQ) &amp; Drum Schedule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Consolidated procurement quantities with 10% installation slack and drum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Jet Cooker | Ingredion (Thailand) Co., Ltd. | AEC Industrial Engineering | Slide 8 of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7991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840480"/>
                <a:gridCol w="2011680"/>
                <a:gridCol w="1097280"/>
                <a:gridCol w="137160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Item No.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Cable Specification &amp; Rating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 Category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No. of Runs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Length (m)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Drum Packaging</a:t>
                      </a:r>
                    </a:p>
                  </a:txBody>
                  <a:tcPr anchor="ctr">
                    <a:solidFill>
                      <a:srgbClr val="0F1E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48C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198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198m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30C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324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324m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40C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429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429m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16P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Shielded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137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137m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60C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352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352m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374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374m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6-Core Armoured SM Fiber (OS2)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Fiber Optic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181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181m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XLPE/SWA/PVC 3C x 4.0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Power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181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181m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20P x 1.0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Shielded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49m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36P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Shielded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93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93m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40P x 1.0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Shielded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137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137m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(IS) 24C x 1.5 mm2 [BLUE]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93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93m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(IS) 16P x 1.0 mm2 [BLUE]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247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247m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(IS) 40C x 1.5 mm2 [BLUE]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225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225m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(IS) 30C x 1.5 mm2 [BLUE]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148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148m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(IS) 10P x 1.0 mm2 [BLUE]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148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148m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(IS) 12P x 1.0 mm2 [BLUE]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Ex-i Intrinsically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71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71m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IS/OS/PVC 8P x 1.0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Analog Shielded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148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148m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CVV-S 24C x 1.5 + 10P x 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 &amp; Analog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71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71m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2x CVV-S 48C + 36C x 1.5 mm2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27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27m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2x CVV-S 48C + 24C x 1.5 mm2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27m Drum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E36"/>
                          </a:solidFill>
                        </a:defRPr>
                      </a:pPr>
                      <a:r>
                        <a:t>CBL-22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Armoured Industrial Cat6A DLR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Industrial Ethernet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33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1x 33m Drum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